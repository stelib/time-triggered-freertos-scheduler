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TT Supermolot Neue Bold" charset="1" panose="02000803030000020004"/>
      <p:regular r:id="rId22"/>
    </p:embeddedFont>
    <p:embeddedFont>
      <p:font typeface="TT Supermolot Neue" charset="1" panose="02000503020000020004"/>
      <p:regular r:id="rId23"/>
    </p:embeddedFont>
    <p:embeddedFont>
      <p:font typeface="Poppins" charset="1" panose="00000500000000000000"/>
      <p:regular r:id="rId24"/>
    </p:embeddedFont>
    <p:embeddedFont>
      <p:font typeface="Open Sans" charset="1" panose="020B060603050402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https://github.com/freertos" TargetMode="External" Type="http://schemas.openxmlformats.org/officeDocument/2006/relationships/hyperlink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7.jpeg" Type="http://schemas.openxmlformats.org/officeDocument/2006/relationships/image"/><Relationship Id="rId4" Target="../media/VAHOU-xN6g4.mp4" Type="http://schemas.openxmlformats.org/officeDocument/2006/relationships/video"/><Relationship Id="rId5" Target="../media/VAHOU-xN6g4.mp4" Type="http://schemas.microsoft.com/office/2007/relationships/media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36004" y="3399154"/>
            <a:ext cx="14615993" cy="3489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b="true" sz="9999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PRECISE SCHEDULER FOR FREERTOS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751520" y="2835744"/>
            <a:ext cx="6784959" cy="763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80"/>
              </a:lnSpc>
            </a:pPr>
            <a:r>
              <a:rPr lang="en-US" sz="4486" spc="829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GRUOP28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091220" y="6812280"/>
            <a:ext cx="10388688" cy="1111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5"/>
              </a:lnSpc>
              <a:spcBef>
                <a:spcPct val="0"/>
              </a:spcBef>
            </a:pPr>
            <a:r>
              <a:rPr lang="en-US" sz="3196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Alberto Toscano - Stefano Liberati - Davide Rotondo - Giuseppe Sciacovelli - Marco Di Bernardo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621571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Page 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01703" y="190246"/>
            <a:ext cx="8484595" cy="1505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298"/>
              </a:lnSpc>
            </a:pPr>
            <a:r>
              <a:rPr lang="en-US" sz="8784" b="true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INTRODUCTION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964511" y="2102100"/>
            <a:ext cx="3333135" cy="7273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4"/>
              </a:lnSpc>
            </a:pPr>
            <a:r>
              <a:rPr lang="en-US" sz="2753" spc="-151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LIST OF THE FILES:</a:t>
            </a:r>
          </a:p>
          <a:p>
            <a:pPr algn="l">
              <a:lnSpc>
                <a:spcPts val="3854"/>
              </a:lnSpc>
            </a:pPr>
          </a:p>
          <a:p>
            <a:pPr algn="l" marL="594419" indent="-297209" lvl="1">
              <a:lnSpc>
                <a:spcPts val="3854"/>
              </a:lnSpc>
              <a:buFont typeface="Arial"/>
              <a:buChar char="•"/>
            </a:pPr>
            <a:r>
              <a:rPr lang="en-US" sz="2753" spc="-151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Makefile</a:t>
            </a:r>
          </a:p>
          <a:p>
            <a:pPr algn="l" marL="594419" indent="-297209" lvl="1">
              <a:lnSpc>
                <a:spcPts val="3854"/>
              </a:lnSpc>
              <a:buFont typeface="Arial"/>
              <a:buChar char="•"/>
            </a:pPr>
            <a:r>
              <a:rPr lang="en-US" sz="2753" spc="-151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FreeRTOSconfig.h</a:t>
            </a:r>
          </a:p>
          <a:p>
            <a:pPr algn="l" marL="594419" indent="-297209" lvl="1">
              <a:lnSpc>
                <a:spcPts val="3854"/>
              </a:lnSpc>
              <a:buFont typeface="Arial"/>
              <a:buChar char="•"/>
            </a:pPr>
            <a:r>
              <a:rPr lang="en-US" sz="2753" spc="-151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scheduler.h</a:t>
            </a:r>
          </a:p>
          <a:p>
            <a:pPr algn="l" marL="594419" indent="-297209" lvl="1">
              <a:lnSpc>
                <a:spcPts val="3854"/>
              </a:lnSpc>
              <a:buFont typeface="Arial"/>
              <a:buChar char="•"/>
            </a:pPr>
            <a:r>
              <a:rPr lang="en-US" sz="2753" spc="-151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scheduler.c</a:t>
            </a:r>
          </a:p>
          <a:p>
            <a:pPr algn="l" marL="594419" indent="-297209" lvl="1">
              <a:lnSpc>
                <a:spcPts val="3854"/>
              </a:lnSpc>
              <a:buFont typeface="Arial"/>
              <a:buChar char="•"/>
            </a:pPr>
            <a:r>
              <a:rPr lang="en-US" sz="2753" spc="-151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task.c</a:t>
            </a:r>
          </a:p>
          <a:p>
            <a:pPr algn="l" marL="594419" indent="-297209" lvl="1">
              <a:lnSpc>
                <a:spcPts val="3854"/>
              </a:lnSpc>
              <a:buFont typeface="Arial"/>
              <a:buChar char="•"/>
            </a:pPr>
            <a:r>
              <a:rPr lang="en-US" sz="2753" spc="-151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test_scheduler.h</a:t>
            </a:r>
          </a:p>
          <a:p>
            <a:pPr algn="l" marL="594419" indent="-297209" lvl="1">
              <a:lnSpc>
                <a:spcPts val="3854"/>
              </a:lnSpc>
              <a:buFont typeface="Arial"/>
              <a:buChar char="•"/>
            </a:pPr>
            <a:r>
              <a:rPr lang="en-US" sz="2753" spc="-151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test_scheduler.c</a:t>
            </a:r>
          </a:p>
          <a:p>
            <a:pPr algn="l" marL="594419" indent="-297209" lvl="1">
              <a:lnSpc>
                <a:spcPts val="3854"/>
              </a:lnSpc>
              <a:buFont typeface="Arial"/>
              <a:buChar char="•"/>
            </a:pPr>
            <a:r>
              <a:rPr lang="en-US" sz="2753" spc="-151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main.c</a:t>
            </a:r>
          </a:p>
          <a:p>
            <a:pPr algn="l" marL="594419" indent="-297209" lvl="1">
              <a:lnSpc>
                <a:spcPts val="3854"/>
              </a:lnSpc>
              <a:buFont typeface="Arial"/>
              <a:buChar char="•"/>
            </a:pPr>
            <a:r>
              <a:rPr lang="en-US" sz="2753" spc="-151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uart.c</a:t>
            </a:r>
          </a:p>
          <a:p>
            <a:pPr algn="l" marL="594419" indent="-297209" lvl="1">
              <a:lnSpc>
                <a:spcPts val="3854"/>
              </a:lnSpc>
              <a:buFont typeface="Arial"/>
              <a:buChar char="•"/>
            </a:pPr>
            <a:r>
              <a:rPr lang="en-US" sz="2753" spc="-151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uart.h</a:t>
            </a:r>
          </a:p>
          <a:p>
            <a:pPr algn="l" marL="594419" indent="-297209" lvl="1">
              <a:lnSpc>
                <a:spcPts val="3854"/>
              </a:lnSpc>
              <a:buFont typeface="Arial"/>
              <a:buChar char="•"/>
            </a:pPr>
            <a:r>
              <a:rPr lang="en-US" sz="2753" spc="-151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Precise Scheduler Documentation </a:t>
            </a:r>
          </a:p>
          <a:p>
            <a:pPr algn="l" marL="594419" indent="-297209" lvl="1">
              <a:lnSpc>
                <a:spcPts val="3854"/>
              </a:lnSpc>
              <a:spcBef>
                <a:spcPct val="0"/>
              </a:spcBef>
              <a:buFont typeface="Arial"/>
              <a:buChar char="•"/>
            </a:pPr>
            <a:r>
              <a:rPr lang="en-US" sz="2753" spc="-151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MIT LICENSE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Page 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90353" y="2111625"/>
            <a:ext cx="9475100" cy="667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This project implements a time-triggered scheduler extension built upon the FreeRTOS kernel, with source code and documentation sourced from </a:t>
            </a:r>
            <a:r>
              <a:rPr lang="en-US" sz="2900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2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he official </a:t>
            </a:r>
            <a:r>
              <a:rPr lang="en-US" sz="2900" u="sng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  <a:hlinkClick r:id="rId3" tooltip="https://github.com/freertos"/>
              </a:rPr>
              <a:t>FreeRTOS GitHub repository</a:t>
            </a:r>
            <a:r>
              <a:rPr lang="en-US" sz="2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algn="l">
              <a:lnSpc>
                <a:spcPts val="4060"/>
              </a:lnSpc>
            </a:pP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tar</a:t>
            </a:r>
            <a:r>
              <a:rPr lang="en-US" sz="2900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</a:t>
            </a:r>
            <a:r>
              <a:rPr lang="en-US" sz="2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et arch</a:t>
            </a:r>
            <a:r>
              <a:rPr lang="en-US" sz="2900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it</a:t>
            </a:r>
            <a:r>
              <a:rPr lang="en-US" sz="2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ect</a:t>
            </a:r>
            <a:r>
              <a:rPr lang="en-US" sz="2900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</a:t>
            </a:r>
            <a:r>
              <a:rPr lang="en-US" sz="2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 f</a:t>
            </a:r>
            <a:r>
              <a:rPr lang="en-US" sz="2900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2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 deploy</a:t>
            </a:r>
            <a:r>
              <a:rPr lang="en-US" sz="2900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</a:t>
            </a:r>
            <a:r>
              <a:rPr lang="en-US" sz="2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ent and testing is the MPS2-AN385 plat</a:t>
            </a:r>
            <a:r>
              <a:rPr lang="en-US" sz="2900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r>
              <a:rPr lang="en-US" sz="2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2900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2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 (ARM Cort</a:t>
            </a:r>
            <a:r>
              <a:rPr lang="en-US" sz="2900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x-M3). This </a:t>
            </a:r>
            <a:r>
              <a:rPr lang="en-US" sz="2900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nvi</a:t>
            </a:r>
            <a:r>
              <a:rPr lang="en-US" sz="2900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ro</a:t>
            </a:r>
            <a:r>
              <a:rPr lang="en-US" sz="2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nment wa</a:t>
            </a:r>
            <a:r>
              <a:rPr lang="en-US" sz="2900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2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s</a:t>
            </a:r>
            <a:r>
              <a:rPr lang="en-US" sz="2900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lected to le</a:t>
            </a:r>
            <a:r>
              <a:rPr lang="en-US" sz="2900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ve</a:t>
            </a:r>
            <a:r>
              <a:rPr lang="en-US" sz="2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rage</a:t>
            </a:r>
            <a:r>
              <a:rPr lang="en-US" sz="2900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QEMU emula</a:t>
            </a:r>
            <a:r>
              <a:rPr lang="en-US" sz="2900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2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ion, en</a:t>
            </a:r>
            <a:r>
              <a:rPr lang="en-US" sz="2900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blin</a:t>
            </a:r>
            <a:r>
              <a:rPr lang="en-US" sz="2900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</a:t>
            </a:r>
            <a:r>
              <a:rPr lang="en-US" sz="2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</a:t>
            </a:r>
            <a:r>
              <a:rPr lang="en-US" sz="2900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et</a:t>
            </a:r>
            <a:r>
              <a:rPr lang="en-US" sz="2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er</a:t>
            </a:r>
            <a:r>
              <a:rPr lang="en-US" sz="2900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</a:t>
            </a:r>
            <a:r>
              <a:rPr lang="en-US" sz="2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ini</a:t>
            </a:r>
            <a:r>
              <a:rPr lang="en-US" sz="2900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2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tic, tick-by</a:t>
            </a:r>
            <a:r>
              <a:rPr lang="en-US" sz="2900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-</a:t>
            </a:r>
            <a:r>
              <a:rPr lang="en-US" sz="2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tick simul</a:t>
            </a:r>
            <a:r>
              <a:rPr lang="en-US" sz="2900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tio</a:t>
            </a:r>
            <a:r>
              <a:rPr lang="en-US" sz="2900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-US" sz="29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to validate Hard and Soft Real-Time task constraints, deadline enforcement, and regression test suites.</a:t>
            </a:r>
          </a:p>
          <a:p>
            <a:pPr algn="l">
              <a:lnSpc>
                <a:spcPts val="406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992083" y="2063692"/>
            <a:ext cx="10303835" cy="6786728"/>
          </a:xfrm>
          <a:custGeom>
            <a:avLst/>
            <a:gdLst/>
            <a:ahLst/>
            <a:cxnLst/>
            <a:rect r="r" b="b" t="t" l="l"/>
            <a:pathLst>
              <a:path h="6786728" w="10303835">
                <a:moveTo>
                  <a:pt x="0" y="0"/>
                </a:moveTo>
                <a:lnTo>
                  <a:pt x="10303834" y="0"/>
                </a:lnTo>
                <a:lnTo>
                  <a:pt x="10303834" y="6786728"/>
                </a:lnTo>
                <a:lnTo>
                  <a:pt x="0" y="67867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920" t="-12024" r="-8674" b="-12883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621571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Page 3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692007" y="633983"/>
            <a:ext cx="6903986" cy="1183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72"/>
              </a:lnSpc>
            </a:pPr>
            <a:r>
              <a:rPr lang="en-US" b="true" sz="8784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MAKEFILE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914615" y="2508277"/>
            <a:ext cx="9174841" cy="6972879"/>
          </a:xfrm>
          <a:custGeom>
            <a:avLst/>
            <a:gdLst/>
            <a:ahLst/>
            <a:cxnLst/>
            <a:rect r="r" b="b" t="t" l="l"/>
            <a:pathLst>
              <a:path h="6972879" w="9174841">
                <a:moveTo>
                  <a:pt x="0" y="0"/>
                </a:moveTo>
                <a:lnTo>
                  <a:pt x="9174841" y="0"/>
                </a:lnTo>
                <a:lnTo>
                  <a:pt x="9174841" y="6972879"/>
                </a:lnTo>
                <a:lnTo>
                  <a:pt x="0" y="69728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98544" y="2550572"/>
            <a:ext cx="9308234" cy="6943314"/>
          </a:xfrm>
          <a:custGeom>
            <a:avLst/>
            <a:gdLst/>
            <a:ahLst/>
            <a:cxnLst/>
            <a:rect r="r" b="b" t="t" l="l"/>
            <a:pathLst>
              <a:path h="6943314" w="9308234">
                <a:moveTo>
                  <a:pt x="0" y="0"/>
                </a:moveTo>
                <a:lnTo>
                  <a:pt x="9308234" y="0"/>
                </a:lnTo>
                <a:lnTo>
                  <a:pt x="9308234" y="6943313"/>
                </a:lnTo>
                <a:lnTo>
                  <a:pt x="0" y="69433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229380" y="969842"/>
            <a:ext cx="11829241" cy="1183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72"/>
              </a:lnSpc>
            </a:pPr>
            <a:r>
              <a:rPr lang="en-US" b="true" sz="8784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FREERTOSCONFIG.H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621571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Page 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65199" y="1664485"/>
            <a:ext cx="9783939" cy="8137732"/>
          </a:xfrm>
          <a:custGeom>
            <a:avLst/>
            <a:gdLst/>
            <a:ahLst/>
            <a:cxnLst/>
            <a:rect r="r" b="b" t="t" l="l"/>
            <a:pathLst>
              <a:path h="8137732" w="9783939">
                <a:moveTo>
                  <a:pt x="0" y="0"/>
                </a:moveTo>
                <a:lnTo>
                  <a:pt x="9783938" y="0"/>
                </a:lnTo>
                <a:lnTo>
                  <a:pt x="9783938" y="8137732"/>
                </a:lnTo>
                <a:lnTo>
                  <a:pt x="0" y="81377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793" t="0" r="-6382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790248" y="1830897"/>
            <a:ext cx="6124535" cy="8298079"/>
          </a:xfrm>
          <a:custGeom>
            <a:avLst/>
            <a:gdLst/>
            <a:ahLst/>
            <a:cxnLst/>
            <a:rect r="r" b="b" t="t" l="l"/>
            <a:pathLst>
              <a:path h="8298079" w="6124535">
                <a:moveTo>
                  <a:pt x="0" y="0"/>
                </a:moveTo>
                <a:lnTo>
                  <a:pt x="6124535" y="0"/>
                </a:lnTo>
                <a:lnTo>
                  <a:pt x="6124535" y="8298079"/>
                </a:lnTo>
                <a:lnTo>
                  <a:pt x="0" y="82980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4070" r="0" b="-407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557168" y="980184"/>
            <a:ext cx="7173664" cy="1183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72"/>
              </a:lnSpc>
            </a:pPr>
            <a:r>
              <a:rPr lang="en-US" sz="8784" b="true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SCHEDULER.H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621571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Page 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221" y="1594738"/>
            <a:ext cx="7638346" cy="8692262"/>
          </a:xfrm>
          <a:custGeom>
            <a:avLst/>
            <a:gdLst/>
            <a:ahLst/>
            <a:cxnLst/>
            <a:rect r="r" b="b" t="t" l="l"/>
            <a:pathLst>
              <a:path h="8692262" w="7638346">
                <a:moveTo>
                  <a:pt x="0" y="0"/>
                </a:moveTo>
                <a:lnTo>
                  <a:pt x="7638346" y="0"/>
                </a:lnTo>
                <a:lnTo>
                  <a:pt x="7638346" y="8692262"/>
                </a:lnTo>
                <a:lnTo>
                  <a:pt x="0" y="86922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077" r="0" b="-4077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678009" y="1594738"/>
            <a:ext cx="8695770" cy="8130545"/>
          </a:xfrm>
          <a:custGeom>
            <a:avLst/>
            <a:gdLst/>
            <a:ahLst/>
            <a:cxnLst/>
            <a:rect r="r" b="b" t="t" l="l"/>
            <a:pathLst>
              <a:path h="8130545" w="8695770">
                <a:moveTo>
                  <a:pt x="0" y="0"/>
                </a:moveTo>
                <a:lnTo>
                  <a:pt x="8695770" y="0"/>
                </a:lnTo>
                <a:lnTo>
                  <a:pt x="8695770" y="8130545"/>
                </a:lnTo>
                <a:lnTo>
                  <a:pt x="0" y="81305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839413" y="557753"/>
            <a:ext cx="8609175" cy="1238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87"/>
              </a:lnSpc>
            </a:pPr>
            <a:r>
              <a:rPr lang="en-US" b="true" sz="8784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SCHEDULER.C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621571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Page 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65253" y="1532619"/>
            <a:ext cx="6680687" cy="8754381"/>
          </a:xfrm>
          <a:custGeom>
            <a:avLst/>
            <a:gdLst/>
            <a:ahLst/>
            <a:cxnLst/>
            <a:rect r="r" b="b" t="t" l="l"/>
            <a:pathLst>
              <a:path h="8754381" w="6680687">
                <a:moveTo>
                  <a:pt x="0" y="0"/>
                </a:moveTo>
                <a:lnTo>
                  <a:pt x="6680686" y="0"/>
                </a:lnTo>
                <a:lnTo>
                  <a:pt x="6680686" y="8754381"/>
                </a:lnTo>
                <a:lnTo>
                  <a:pt x="0" y="87543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536891" y="2003806"/>
            <a:ext cx="8722409" cy="7812007"/>
          </a:xfrm>
          <a:custGeom>
            <a:avLst/>
            <a:gdLst/>
            <a:ahLst/>
            <a:cxnLst/>
            <a:rect r="r" b="b" t="t" l="l"/>
            <a:pathLst>
              <a:path h="7812007" w="8722409">
                <a:moveTo>
                  <a:pt x="0" y="0"/>
                </a:moveTo>
                <a:lnTo>
                  <a:pt x="8722409" y="0"/>
                </a:lnTo>
                <a:lnTo>
                  <a:pt x="8722409" y="7812007"/>
                </a:lnTo>
                <a:lnTo>
                  <a:pt x="0" y="78120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621571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Page 7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839413" y="557753"/>
            <a:ext cx="8609175" cy="1238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87"/>
              </a:lnSpc>
            </a:pPr>
            <a:r>
              <a:rPr lang="en-US" b="true" sz="8784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SCHEDULER.C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381823" y="1542696"/>
            <a:ext cx="9524353" cy="8346941"/>
          </a:xfrm>
          <a:custGeom>
            <a:avLst/>
            <a:gdLst/>
            <a:ahLst/>
            <a:cxnLst/>
            <a:rect r="r" b="b" t="t" l="l"/>
            <a:pathLst>
              <a:path h="8346941" w="9524353">
                <a:moveTo>
                  <a:pt x="0" y="0"/>
                </a:moveTo>
                <a:lnTo>
                  <a:pt x="9524354" y="0"/>
                </a:lnTo>
                <a:lnTo>
                  <a:pt x="9524354" y="8346940"/>
                </a:lnTo>
                <a:lnTo>
                  <a:pt x="0" y="83469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115803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839413" y="456938"/>
            <a:ext cx="8609175" cy="1238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87"/>
              </a:lnSpc>
            </a:pPr>
            <a:r>
              <a:rPr lang="en-US" b="true" sz="8784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TASK.C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621571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Page 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747971" y="1578407"/>
            <a:ext cx="8792057" cy="8987555"/>
          </a:xfrm>
          <a:custGeom>
            <a:avLst/>
            <a:gdLst/>
            <a:ahLst/>
            <a:cxnLst/>
            <a:rect r="r" b="b" t="t" l="l"/>
            <a:pathLst>
              <a:path h="8987555" w="8792057">
                <a:moveTo>
                  <a:pt x="0" y="0"/>
                </a:moveTo>
                <a:lnTo>
                  <a:pt x="8792058" y="0"/>
                </a:lnTo>
                <a:lnTo>
                  <a:pt x="8792058" y="8987555"/>
                </a:lnTo>
                <a:lnTo>
                  <a:pt x="0" y="89875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5011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839413" y="456938"/>
            <a:ext cx="8609175" cy="1238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87"/>
              </a:lnSpc>
            </a:pPr>
            <a:r>
              <a:rPr lang="en-US" b="true" sz="8784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TASK.C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621571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Page 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907206" y="1587346"/>
            <a:ext cx="8473588" cy="7112307"/>
          </a:xfrm>
          <a:custGeom>
            <a:avLst/>
            <a:gdLst/>
            <a:ahLst/>
            <a:cxnLst/>
            <a:rect r="r" b="b" t="t" l="l"/>
            <a:pathLst>
              <a:path h="7112307" w="8473588">
                <a:moveTo>
                  <a:pt x="0" y="0"/>
                </a:moveTo>
                <a:lnTo>
                  <a:pt x="8473588" y="0"/>
                </a:lnTo>
                <a:lnTo>
                  <a:pt x="8473588" y="7112308"/>
                </a:lnTo>
                <a:lnTo>
                  <a:pt x="0" y="71123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839413" y="456938"/>
            <a:ext cx="8609175" cy="1238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87"/>
              </a:lnSpc>
            </a:pPr>
            <a:r>
              <a:rPr lang="en-US" b="true" sz="8784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TASK.C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621571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Page 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15413" y="1499941"/>
            <a:ext cx="6368471" cy="8787059"/>
          </a:xfrm>
          <a:custGeom>
            <a:avLst/>
            <a:gdLst/>
            <a:ahLst/>
            <a:cxnLst/>
            <a:rect r="r" b="b" t="t" l="l"/>
            <a:pathLst>
              <a:path h="8787059" w="6368471">
                <a:moveTo>
                  <a:pt x="0" y="0"/>
                </a:moveTo>
                <a:lnTo>
                  <a:pt x="6368472" y="0"/>
                </a:lnTo>
                <a:lnTo>
                  <a:pt x="6368472" y="8787059"/>
                </a:lnTo>
                <a:lnTo>
                  <a:pt x="0" y="87870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208952" y="1595657"/>
            <a:ext cx="8363635" cy="8439210"/>
          </a:xfrm>
          <a:custGeom>
            <a:avLst/>
            <a:gdLst/>
            <a:ahLst/>
            <a:cxnLst/>
            <a:rect r="r" b="b" t="t" l="l"/>
            <a:pathLst>
              <a:path h="8439210" w="8363635">
                <a:moveTo>
                  <a:pt x="0" y="0"/>
                </a:moveTo>
                <a:lnTo>
                  <a:pt x="8363635" y="0"/>
                </a:lnTo>
                <a:lnTo>
                  <a:pt x="8363635" y="8439209"/>
                </a:lnTo>
                <a:lnTo>
                  <a:pt x="0" y="84392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056571" y="413928"/>
            <a:ext cx="10174858" cy="1183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72"/>
              </a:lnSpc>
            </a:pPr>
            <a:r>
              <a:rPr lang="en-US" b="true" sz="8784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TEST_SCHEDULER.H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054689" y="2029332"/>
            <a:ext cx="10178621" cy="7609419"/>
          </a:xfrm>
          <a:custGeom>
            <a:avLst/>
            <a:gdLst/>
            <a:ahLst/>
            <a:cxnLst/>
            <a:rect r="r" b="b" t="t" l="l"/>
            <a:pathLst>
              <a:path h="7609419" w="10178621">
                <a:moveTo>
                  <a:pt x="0" y="0"/>
                </a:moveTo>
                <a:lnTo>
                  <a:pt x="10178622" y="0"/>
                </a:lnTo>
                <a:lnTo>
                  <a:pt x="10178622" y="7609420"/>
                </a:lnTo>
                <a:lnTo>
                  <a:pt x="0" y="76094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036588" y="372853"/>
            <a:ext cx="10214824" cy="1500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98"/>
              </a:lnSpc>
            </a:pPr>
            <a:r>
              <a:rPr lang="en-US" b="true" sz="8784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TEST_SCHEDULER.C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Page 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pic>
        <p:nvPicPr>
          <p:cNvPr name="Picture 3" id="3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1877035" y="524117"/>
            <a:ext cx="14533930" cy="9238766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Page 13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94419" y="1455604"/>
            <a:ext cx="7299161" cy="8485350"/>
          </a:xfrm>
          <a:custGeom>
            <a:avLst/>
            <a:gdLst/>
            <a:ahLst/>
            <a:cxnLst/>
            <a:rect r="r" b="b" t="t" l="l"/>
            <a:pathLst>
              <a:path h="8485350" w="7299161">
                <a:moveTo>
                  <a:pt x="0" y="0"/>
                </a:moveTo>
                <a:lnTo>
                  <a:pt x="7299162" y="0"/>
                </a:lnTo>
                <a:lnTo>
                  <a:pt x="7299162" y="8485350"/>
                </a:lnTo>
                <a:lnTo>
                  <a:pt x="0" y="84853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98" r="0" b="-4677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839413" y="456938"/>
            <a:ext cx="8609175" cy="1238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87"/>
              </a:lnSpc>
            </a:pPr>
            <a:r>
              <a:rPr lang="en-US" b="true" sz="8784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MAIN.C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621571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Page 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142518" y="1633576"/>
            <a:ext cx="8002965" cy="8653424"/>
          </a:xfrm>
          <a:custGeom>
            <a:avLst/>
            <a:gdLst/>
            <a:ahLst/>
            <a:cxnLst/>
            <a:rect r="r" b="b" t="t" l="l"/>
            <a:pathLst>
              <a:path h="8653424" w="8002965">
                <a:moveTo>
                  <a:pt x="0" y="0"/>
                </a:moveTo>
                <a:lnTo>
                  <a:pt x="8002964" y="0"/>
                </a:lnTo>
                <a:lnTo>
                  <a:pt x="8002964" y="8653424"/>
                </a:lnTo>
                <a:lnTo>
                  <a:pt x="0" y="86534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839413" y="456938"/>
            <a:ext cx="8609175" cy="1238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87"/>
              </a:lnSpc>
            </a:pPr>
            <a:r>
              <a:rPr lang="en-US" b="true" sz="8784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UART.C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621571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Page 15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321948" y="4048910"/>
            <a:ext cx="13644104" cy="2532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93"/>
              </a:lnSpc>
            </a:pPr>
            <a:r>
              <a:rPr lang="en-US" b="true" sz="18904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THANK YOU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621571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TT Supermolot Neue"/>
                <a:ea typeface="TT Supermolot Neue"/>
                <a:cs typeface="TT Supermolot Neue"/>
                <a:sym typeface="TT Supermolot Neue"/>
              </a:rPr>
              <a:t>Page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DAHOUFuzRPY</dc:identifier>
  <dcterms:modified xsi:type="dcterms:W3CDTF">2011-08-01T06:04:30Z</dcterms:modified>
  <cp:revision>1</cp:revision>
  <dc:title>OSES group28</dc:title>
</cp:coreProperties>
</file>